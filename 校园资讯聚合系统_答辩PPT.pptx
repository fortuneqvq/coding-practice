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73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2851289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49808" y="566928"/>
            <a:ext cx="1737360" cy="347472"/>
          </a:xfrm>
          <a:prstGeom prst="roundRect">
            <a:avLst/>
          </a:prstGeom>
          <a:solidFill>
            <a:srgbClr val="F6B142"/>
          </a:solidFill>
          <a:ln w="13970">
            <a:solidFill>
              <a:srgbClr val="F6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Campus News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8778240" cy="7315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校园资讯聚合系统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212848"/>
            <a:ext cx="8046720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B142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校园信息一站式获取与检索平台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6B142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973440"/>
            <a:ext cx="6583680" cy="32918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是啊吃什么组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·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小组项目答辩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69787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14360" y="1947672"/>
            <a:ext cx="315468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25256" y="2313432"/>
            <a:ext cx="256032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一站式校园信息平台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1" y="2816352"/>
            <a:ext cx="2423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300">
                <a:solidFill>
                  <a:srgbClr val="697870"/>
                </a:solidFill>
                <a:latin typeface="Microsoft YaHe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新闻聚合</a:t>
            </a:r>
          </a:p>
          <a:p>
            <a:pPr marL="2857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300">
                <a:solidFill>
                  <a:srgbClr val="697870"/>
                </a:solidFill>
                <a:latin typeface="Microsoft YaHe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分类浏览</a:t>
            </a:r>
          </a:p>
          <a:p>
            <a:pPr marL="2857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300">
                <a:solidFill>
                  <a:srgbClr val="697870"/>
                </a:solidFill>
                <a:latin typeface="Microsoft YaHei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关键词搜索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3419" y="4796914"/>
            <a:ext cx="2011680" cy="82296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27699" y="4742051"/>
            <a:ext cx="20116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7699" y="4742051"/>
            <a:ext cx="2011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7148" y="4939670"/>
            <a:ext cx="792781" cy="323165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Crawler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3731" y="5436994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5443" y="5250566"/>
            <a:ext cx="153619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资讯采集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srgbClr val="697870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12531" y="4988939"/>
            <a:ext cx="2743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2742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8019" y="4796914"/>
            <a:ext cx="2011680" cy="82296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42299" y="4742051"/>
            <a:ext cx="20116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42299" y="4742051"/>
            <a:ext cx="2011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18754" y="4939670"/>
            <a:ext cx="658770" cy="323165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Parser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8331" y="5436994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80043" y="5250566"/>
            <a:ext cx="153619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字段提取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7130" y="4988939"/>
            <a:ext cx="2743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2742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2619" y="4796914"/>
            <a:ext cx="2011680" cy="82296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756899" y="4742051"/>
            <a:ext cx="20116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56899" y="4742051"/>
            <a:ext cx="2011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21267" y="4939670"/>
            <a:ext cx="682943" cy="323165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2931" y="5436994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94643" y="5250566"/>
            <a:ext cx="153619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本地检索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1730" y="4988939"/>
            <a:ext cx="2743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C2742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17219" y="4796914"/>
            <a:ext cx="2011680" cy="82296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71499" y="4742051"/>
            <a:ext cx="20116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71499" y="4742051"/>
            <a:ext cx="2011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56839" y="4939670"/>
            <a:ext cx="840999" cy="323165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Website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7531" y="5436994"/>
            <a:ext cx="14996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9243" y="5250566"/>
            <a:ext cx="153619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页面展示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99632"/>
            <a:ext cx="2568908" cy="25391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汇报人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：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侯小东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周祥奕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陈梓烙 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叶抒</a:t>
            </a: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97870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199632"/>
            <a:ext cx="45720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24E37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 dirty="0" err="1">
                <a:solidFill>
                  <a:srgbClr val="697870"/>
                </a:solidFill>
                <a:latin typeface="Microsoft YaHei"/>
              </a:rPr>
              <a:t>从需求出发，展示实现路径，并回到系统价值与可扩展方向</a:t>
            </a:r>
            <a:endParaRPr sz="1100" b="0" dirty="0">
              <a:solidFill>
                <a:srgbClr val="697870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404872"/>
            <a:ext cx="502920" cy="347472"/>
          </a:xfrm>
          <a:prstGeom prst="roundRect">
            <a:avLst/>
          </a:prstGeom>
          <a:solidFill>
            <a:srgbClr val="1C784E"/>
          </a:solidFill>
          <a:ln w="13970">
            <a:solidFill>
              <a:srgbClr val="1C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13432"/>
            <a:ext cx="347472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000" b="1">
                <a:solidFill>
                  <a:srgbClr val="124E37"/>
                </a:solidFill>
                <a:latin typeface="Microsoft YaHei"/>
              </a:rPr>
              <a:t>项目定位与建设目标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743200"/>
            <a:ext cx="786384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为什么要做：减少多站点浏览成本，避免遗漏关键信息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520440"/>
            <a:ext cx="50292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29000"/>
            <a:ext cx="347472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000" b="1" dirty="0" err="1">
                <a:solidFill>
                  <a:srgbClr val="124E37"/>
                </a:solidFill>
                <a:latin typeface="Microsoft YaHei"/>
              </a:rPr>
              <a:t>系统设计与模块实现</a:t>
            </a:r>
            <a:endParaRPr sz="20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00784" y="3858768"/>
            <a:ext cx="786384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怎么做：爬取、解析、入库、生成网站与交互检索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36008"/>
            <a:ext cx="502920" cy="347472"/>
          </a:xfrm>
          <a:prstGeom prst="roundRect">
            <a:avLst/>
          </a:prstGeom>
          <a:solidFill>
            <a:srgbClr val="1C784E"/>
          </a:solidFill>
          <a:ln w="13970">
            <a:solidFill>
              <a:srgbClr val="1C7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3474720" cy="3200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000" b="1">
                <a:solidFill>
                  <a:srgbClr val="124E37"/>
                </a:solidFill>
                <a:latin typeface="Microsoft YaHei"/>
              </a:rPr>
              <a:t>项目成果与后续规划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4974336"/>
            <a:ext cx="786384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做成什么：跑通核心链路，并预留持续演进空间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359152"/>
            <a:ext cx="2423160" cy="260604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95360" y="2359152"/>
            <a:ext cx="24231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3479292"/>
            <a:ext cx="20574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核心目标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50808" y="3858768"/>
            <a:ext cx="2103120" cy="40011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00" b="0" dirty="0" err="1">
                <a:solidFill>
                  <a:srgbClr val="697870"/>
                </a:solidFill>
                <a:latin typeface="Microsoft YaHei"/>
              </a:rPr>
              <a:t>让校园资讯从多站点分散浏览，变为一个入口集中获取</a:t>
            </a:r>
            <a:endParaRPr sz="1000" b="0" dirty="0">
              <a:solidFill>
                <a:srgbClr val="697870"/>
              </a:solidFill>
              <a:latin typeface="Microsoft YaHe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面向校园通知、新闻与活动的信息聚合系统，服务学生高效获取资讯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39696"/>
            <a:ext cx="3291840" cy="182880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2"/>
            <a:ext cx="32918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084832"/>
            <a:ext cx="329184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128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06624"/>
            <a:ext cx="281635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真实痛点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145536"/>
            <a:ext cx="27797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多站点浏览成本高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重要通知容易遗漏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139696"/>
            <a:ext cx="3291840" cy="182880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2084832"/>
            <a:ext cx="32918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2084832"/>
            <a:ext cx="329184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36007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706624"/>
            <a:ext cx="281635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建设目标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145536"/>
            <a:ext cx="27797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采集并统一结构化资讯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提供浏览、检索与筛选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139696"/>
            <a:ext cx="3291840" cy="182880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0" y="2084832"/>
            <a:ext cx="329184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2084832"/>
            <a:ext cx="329184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47888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706624"/>
            <a:ext cx="281635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项目边界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45536"/>
            <a:ext cx="2779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dirty="0" err="1"/>
              <a:t>单机</a:t>
            </a:r>
            <a:r>
              <a:rPr dirty="0"/>
              <a:t> C++17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dirty="0"/>
              <a:t> SQLite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dirty="0" err="1"/>
              <a:t>不含登录与移动端功能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1051560" y="4553712"/>
            <a:ext cx="9875520" cy="96012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1560" y="4553712"/>
            <a:ext cx="987552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39" y="4776179"/>
            <a:ext cx="950976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项目定位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71600" y="5114507"/>
            <a:ext cx="92354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将分散的校园资讯自动汇聚为可浏览、可检索、可追溯的统一入口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 dirty="0" err="1">
                <a:solidFill>
                  <a:srgbClr val="697870"/>
                </a:solidFill>
                <a:latin typeface="Microsoft YaHei"/>
              </a:rPr>
              <a:t>覆盖“采集</a:t>
            </a:r>
            <a:r>
              <a:rPr sz="1100" b="0" dirty="0">
                <a:solidFill>
                  <a:srgbClr val="697870"/>
                </a:solidFill>
                <a:latin typeface="Microsoft YaHei"/>
              </a:rPr>
              <a:t>—</a:t>
            </a:r>
            <a:r>
              <a:rPr sz="1100" b="0" dirty="0" err="1">
                <a:solidFill>
                  <a:srgbClr val="697870"/>
                </a:solidFill>
                <a:latin typeface="Microsoft YaHei"/>
              </a:rPr>
              <a:t>处理</a:t>
            </a:r>
            <a:r>
              <a:rPr sz="1100" b="0" dirty="0">
                <a:solidFill>
                  <a:srgbClr val="697870"/>
                </a:solidFill>
                <a:latin typeface="Microsoft YaHei"/>
              </a:rPr>
              <a:t>—</a:t>
            </a:r>
            <a:r>
              <a:rPr sz="1100" b="0" dirty="0" err="1">
                <a:solidFill>
                  <a:srgbClr val="697870"/>
                </a:solidFill>
                <a:latin typeface="Microsoft YaHei"/>
              </a:rPr>
              <a:t>存储</a:t>
            </a:r>
            <a:r>
              <a:rPr sz="1100" b="0" dirty="0">
                <a:solidFill>
                  <a:srgbClr val="697870"/>
                </a:solidFill>
                <a:latin typeface="Microsoft YaHei"/>
              </a:rPr>
              <a:t>—</a:t>
            </a:r>
            <a:r>
              <a:rPr sz="1100" b="0" dirty="0" err="1">
                <a:solidFill>
                  <a:srgbClr val="697870"/>
                </a:solidFill>
                <a:latin typeface="Microsoft YaHei"/>
              </a:rPr>
              <a:t>展示”闭环，兼顾学生使用与维护扩展</a:t>
            </a:r>
            <a:endParaRPr sz="1100" b="0" dirty="0">
              <a:solidFill>
                <a:srgbClr val="697870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568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1901951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901951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9848" y="20848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5054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多来源采集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9443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95144" y="23957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按配置抓取公开资讯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9568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80560" y="1901951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0" y="1901951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81728" y="20848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25054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结构化解析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9443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07024" y="23957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提取标题、时间等字段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9568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92440" y="1901951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1901951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93608" y="20848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5054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关键词检索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29443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18904" y="23957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定位相关资讯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5570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3502152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8680" y="3502152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9848" y="36850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" y="41056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浏览与筛选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" y="45445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95144" y="39959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按来源和时间查阅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35570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480560" y="3502152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80560" y="3502152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681728" y="36850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0016" y="41056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本地持久化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45445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07024" y="39959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SQLite 全文检索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3557016"/>
            <a:ext cx="3017520" cy="1078992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092440" y="3502152"/>
            <a:ext cx="301752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92440" y="3502152"/>
            <a:ext cx="301752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293608" y="368503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6" y="4105656"/>
            <a:ext cx="117043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150" b="1">
                <a:solidFill>
                  <a:srgbClr val="124E37"/>
                </a:solidFill>
                <a:latin typeface="Microsoft YaHei"/>
              </a:rPr>
              <a:t>静态页面生成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1" y="4544568"/>
            <a:ext cx="2505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18904" y="3995928"/>
            <a:ext cx="1353312" cy="23774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首页、详情与搜索页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0" y="5468112"/>
            <a:ext cx="8503920" cy="530352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828800" y="5468112"/>
            <a:ext cx="850392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11680" y="5640956"/>
            <a:ext cx="813816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首页浏览</a:t>
            </a:r>
            <a:r>
              <a:rPr sz="1400" b="1" dirty="0">
                <a:solidFill>
                  <a:srgbClr val="124E37"/>
                </a:solidFill>
                <a:latin typeface="Microsoft YaHei"/>
              </a:rPr>
              <a:t> → </a:t>
            </a:r>
            <a:r>
              <a:rPr sz="1400" b="1" dirty="0" err="1">
                <a:solidFill>
                  <a:srgbClr val="124E37"/>
                </a:solidFill>
                <a:latin typeface="Microsoft YaHei"/>
              </a:rPr>
              <a:t>来源</a:t>
            </a:r>
            <a:r>
              <a:rPr sz="1400" b="1" dirty="0">
                <a:solidFill>
                  <a:srgbClr val="124E37"/>
                </a:solidFill>
                <a:latin typeface="Microsoft YaHei"/>
              </a:rPr>
              <a:t>/</a:t>
            </a:r>
            <a:r>
              <a:rPr sz="1400" b="1" dirty="0" err="1">
                <a:solidFill>
                  <a:srgbClr val="124E37"/>
                </a:solidFill>
                <a:latin typeface="Microsoft YaHei"/>
              </a:rPr>
              <a:t>关键词检索</a:t>
            </a:r>
            <a:r>
              <a:rPr sz="1400" b="1" dirty="0">
                <a:solidFill>
                  <a:srgbClr val="124E37"/>
                </a:solidFill>
                <a:latin typeface="Microsoft YaHei"/>
              </a:rPr>
              <a:t> → </a:t>
            </a:r>
            <a:r>
              <a:rPr sz="1400" b="1" dirty="0" err="1">
                <a:solidFill>
                  <a:srgbClr val="124E37"/>
                </a:solidFill>
                <a:latin typeface="Microsoft YaHei"/>
              </a:rPr>
              <a:t>详情查看原文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48840" y="5888736"/>
            <a:ext cx="78638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从数据采集到页面展示的完整处理流水线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配置源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config.json
站点 URL 列表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62072"/>
            <a:ext cx="3200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0">
                <a:solidFill>
                  <a:srgbClr val="1C784E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33472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爬虫模块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libcurl 抓取
manifest 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862072"/>
            <a:ext cx="3200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0">
                <a:solidFill>
                  <a:srgbClr val="1C784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3984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5424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解析模块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Tidy + pugixml
JSON 字段提取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2862072"/>
            <a:ext cx="3200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0">
                <a:solidFill>
                  <a:srgbClr val="1C784E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SQLite
News 结构体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2862072"/>
            <a:ext cx="3200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0">
                <a:solidFill>
                  <a:srgbClr val="1C784E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7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网站生成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模板替换
HTML/JSON 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862072"/>
            <a:ext cx="32004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0">
                <a:solidFill>
                  <a:srgbClr val="1C784E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2404872"/>
            <a:ext cx="1481328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0" y="2651760"/>
            <a:ext cx="1298448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1">
                <a:solidFill>
                  <a:srgbClr val="124E37"/>
                </a:solidFill>
                <a:latin typeface="Microsoft YaHei"/>
              </a:rPr>
              <a:t>用户访问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9567" y="2980944"/>
            <a:ext cx="1261872" cy="36576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950" b="0">
                <a:solidFill>
                  <a:srgbClr val="697870"/>
                </a:solidFill>
                <a:latin typeface="Microsoft YaHei"/>
              </a:rPr>
              <a:t>首页/分类
搜索/详情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654295"/>
            <a:ext cx="4754880" cy="1115568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" y="4599432"/>
            <a:ext cx="475488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" y="4599432"/>
            <a:ext cx="47548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52144" y="4855464"/>
            <a:ext cx="42793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 dirty="0" err="1">
                <a:solidFill>
                  <a:srgbClr val="124E37"/>
                </a:solidFill>
                <a:latin typeface="Microsoft YaHei"/>
              </a:rPr>
              <a:t>答辩表达</a:t>
            </a:r>
            <a:endParaRPr sz="13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70432" y="5294375"/>
            <a:ext cx="4242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dirty="0" err="1"/>
              <a:t>这页用来说明我们的项目不是孤立页面，而是一个可重复运行的数据生产与展示流程</a:t>
            </a:r>
            <a:r>
              <a:rPr dirty="0"/>
              <a:t>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654295"/>
            <a:ext cx="4754880" cy="1115568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172200" y="4599432"/>
            <a:ext cx="4754880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4599432"/>
            <a:ext cx="47548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9944" y="4855464"/>
            <a:ext cx="42793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可替换材料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5294375"/>
            <a:ext cx="42428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dirty="0" err="1"/>
              <a:t>可在流程图下方加入代码截图、数据库表截图或运行日志截图</a:t>
            </a:r>
            <a:r>
              <a:rPr dirty="0"/>
              <a:t>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数据采集模块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Crawler/base_01.cpp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5074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读取 config.json 中的多站点 URL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使用 libcurl 设置 UA、超时与自动跳转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抓取结果保存为 page_x.html，并写入 manifest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加入日志记录与 1 秒限流，便于调试和复现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93392"/>
            <a:ext cx="4251960" cy="288036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993392"/>
            <a:ext cx="42519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250692"/>
            <a:ext cx="38862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>
                <a:solidFill>
                  <a:srgbClr val="124E37"/>
                </a:solidFill>
                <a:latin typeface="Microsoft YaHei"/>
              </a:rPr>
              <a:t>代码 / 运行截图占位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3589020"/>
            <a:ext cx="36118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建议放：Crawler/base_01.cpp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5294375"/>
            <a:ext cx="4251960" cy="7772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5239512"/>
            <a:ext cx="42519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5239512"/>
            <a:ext cx="4251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3" y="5495544"/>
            <a:ext cx="3776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讲解重点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5934456"/>
            <a:ext cx="3739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从输入、处理、输出三个角度讲清楚模块责任。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解析与清洗模块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Parser/HTMLparsing.cpp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5074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使用 Tidy 将 HTML 清理为 XHTML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使用 pugixml 与 XPath 提取链接和正文段落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从页面 JSON 中解析标题、发布时间、正文内容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将相对链接转换为绝对链接，减少后续访问错误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93392"/>
            <a:ext cx="4251960" cy="288036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993392"/>
            <a:ext cx="42519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250692"/>
            <a:ext cx="38862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>
                <a:solidFill>
                  <a:srgbClr val="124E37"/>
                </a:solidFill>
                <a:latin typeface="Microsoft YaHei"/>
              </a:rPr>
              <a:t>代码 / 运行截图占位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3589020"/>
            <a:ext cx="36118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建议放：Parser/HTMLparsing.cpp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5294375"/>
            <a:ext cx="4251960" cy="7772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5239512"/>
            <a:ext cx="42519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5239512"/>
            <a:ext cx="4251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3" y="5495544"/>
            <a:ext cx="3776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讲解重点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5934456"/>
            <a:ext cx="3739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从输入、处理、输出三个角度讲清楚模块责任。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数据库模块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DataBase/database.cpp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5074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使用 SQLite 保存新闻结构化字段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News 结构体统一承载标题、时间、来源、摘要等信息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提供按时间、来源、主题、标题检索接口</a:t>
            </a:r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t>为网站生成与搜索分类功能提供数据支撑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93392"/>
            <a:ext cx="4251960" cy="288036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92240" y="1993392"/>
            <a:ext cx="42519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250692"/>
            <a:ext cx="38862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>
                <a:solidFill>
                  <a:srgbClr val="124E37"/>
                </a:solidFill>
                <a:latin typeface="Microsoft YaHei"/>
              </a:rPr>
              <a:t>代码 / 运行截图占位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3589020"/>
            <a:ext cx="36118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建议放：DataBase/database.cpp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5294375"/>
            <a:ext cx="4251960" cy="7772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5239512"/>
            <a:ext cx="425196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92240" y="5239512"/>
            <a:ext cx="4251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9983" y="5495544"/>
            <a:ext cx="3776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讲解重点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5934456"/>
            <a:ext cx="3739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从输入、处理、输出三个角度讲清楚模块责任。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网站生成模块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Server/WebsiteGenerator.cpp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50749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rPr dirty="0" err="1"/>
              <a:t>读取</a:t>
            </a:r>
            <a:r>
              <a:rPr dirty="0"/>
              <a:t> HTML </a:t>
            </a:r>
            <a:r>
              <a:rPr dirty="0" err="1"/>
              <a:t>模板并替换占位符</a:t>
            </a:r>
            <a:endParaRPr dirty="0"/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rPr dirty="0" err="1"/>
              <a:t>生成首页、详情页、搜索页、分类首页与分类结果页</a:t>
            </a:r>
            <a:endParaRPr dirty="0"/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rPr dirty="0" err="1"/>
              <a:t>输出</a:t>
            </a:r>
            <a:r>
              <a:rPr dirty="0"/>
              <a:t> </a:t>
            </a:r>
            <a:r>
              <a:rPr dirty="0" err="1"/>
              <a:t>news.json</a:t>
            </a:r>
            <a:r>
              <a:rPr dirty="0"/>
              <a:t> </a:t>
            </a:r>
            <a:r>
              <a:rPr dirty="0" err="1"/>
              <a:t>供前端脚本读取</a:t>
            </a:r>
            <a:endParaRPr dirty="0"/>
          </a:p>
          <a:p>
            <a:pPr marL="285750" indent="-171450">
              <a:spcAft>
                <a:spcPts val="600"/>
              </a:spcAft>
              <a:defRPr sz="1500">
                <a:solidFill>
                  <a:srgbClr val="273730"/>
                </a:solidFill>
                <a:latin typeface="Microsoft YaHei"/>
              </a:defRPr>
            </a:pPr>
            <a:r>
              <a:rPr dirty="0" err="1"/>
              <a:t>整体风格采用浅绿色渐变、白色卡片和圆角按钮</a:t>
            </a: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界面风格与交互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延续网站浅绿色视觉，突出校园资讯的清爽与可读性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39696"/>
            <a:ext cx="2926080" cy="13258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084832"/>
            <a:ext cx="292608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084832"/>
            <a:ext cx="29260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128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06624"/>
            <a:ext cx="24505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视觉语言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2516" y="2481471"/>
            <a:ext cx="26243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背景</a:t>
            </a:r>
            <a:r>
              <a:rPr sz="1000" dirty="0"/>
              <a:t>：#d8f3dc → #ffffff </a:t>
            </a:r>
            <a:r>
              <a:rPr sz="1000" dirty="0" err="1"/>
              <a:t>渐变</a:t>
            </a:r>
            <a:endParaRPr sz="1000" dirty="0"/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主色</a:t>
            </a:r>
            <a:r>
              <a:rPr sz="1000" dirty="0"/>
              <a:t>：#2d6a4f / #40916c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内容：白色卡片</a:t>
            </a:r>
            <a:r>
              <a:rPr sz="1000" dirty="0"/>
              <a:t> + </a:t>
            </a:r>
            <a:r>
              <a:rPr sz="1000" dirty="0" err="1"/>
              <a:t>轻阴影</a:t>
            </a:r>
            <a:endParaRPr sz="1000" dirty="0"/>
          </a:p>
        </p:txBody>
      </p:sp>
      <p:sp>
        <p:nvSpPr>
          <p:cNvPr id="16" name="Rounded Rectangle 15"/>
          <p:cNvSpPr/>
          <p:nvPr/>
        </p:nvSpPr>
        <p:spPr>
          <a:xfrm>
            <a:off x="4114800" y="2139696"/>
            <a:ext cx="2926080" cy="13258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69080" y="2084832"/>
            <a:ext cx="292608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9080" y="2084832"/>
            <a:ext cx="29260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70248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2706624"/>
            <a:ext cx="24505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首页交互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8636" y="2481471"/>
            <a:ext cx="2414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搜索框直接输入关键词</a:t>
            </a:r>
            <a:endParaRPr sz="1000" dirty="0"/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最新新闻卡片展示摘要</a:t>
            </a:r>
            <a:endParaRPr sz="1000" dirty="0"/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详情按钮进入新闻正文</a:t>
            </a:r>
            <a:endParaRPr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7360920" y="2139696"/>
            <a:ext cx="2926080" cy="13258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0" y="2084832"/>
            <a:ext cx="292608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084832"/>
            <a:ext cx="29260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16368" y="226771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2706624"/>
            <a:ext cx="24505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分类交互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4755" y="2481471"/>
            <a:ext cx="2414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按时间、来源、主题分组</a:t>
            </a:r>
            <a:endParaRPr sz="1000" dirty="0"/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标签按钮跳转结果页</a:t>
            </a:r>
            <a:endParaRPr sz="1000" dirty="0"/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rPr sz="1000" dirty="0" err="1"/>
              <a:t>返回按钮形成闭环浏览</a:t>
            </a:r>
            <a:endParaRPr sz="1000" dirty="0"/>
          </a:p>
        </p:txBody>
      </p:sp>
      <p:sp>
        <p:nvSpPr>
          <p:cNvPr id="28" name="Rounded Rectangle 27"/>
          <p:cNvSpPr/>
          <p:nvPr/>
        </p:nvSpPr>
        <p:spPr>
          <a:xfrm>
            <a:off x="914400" y="4142231"/>
            <a:ext cx="4480560" cy="150876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" y="4142231"/>
            <a:ext cx="44805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713732"/>
            <a:ext cx="41148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首页截图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34440" y="5052060"/>
            <a:ext cx="38404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 dirty="0" err="1">
                <a:solidFill>
                  <a:srgbClr val="697870"/>
                </a:solidFill>
                <a:latin typeface="Microsoft YaHei"/>
              </a:rPr>
              <a:t>放置</a:t>
            </a:r>
            <a:r>
              <a:rPr sz="1000" b="0" dirty="0">
                <a:solidFill>
                  <a:srgbClr val="697870"/>
                </a:solidFill>
                <a:latin typeface="Microsoft YaHei"/>
              </a:rPr>
              <a:t> Server/output/index.html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4142231"/>
            <a:ext cx="4480560" cy="150876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97880" y="4142231"/>
            <a:ext cx="44805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4713732"/>
            <a:ext cx="41148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>
                <a:solidFill>
                  <a:srgbClr val="124E37"/>
                </a:solidFill>
                <a:latin typeface="Microsoft YaHei"/>
              </a:rPr>
              <a:t>分类页截图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052060"/>
            <a:ext cx="38404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放置 Server/output/category_index.html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数据结构与检索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围绕 News 结构体完成从入库到页面展示的数据统一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848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0848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848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0848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0848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abstract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706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7706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7706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70632"/>
            <a:ext cx="1417320" cy="347472"/>
          </a:xfrm>
          <a:prstGeom prst="roundRect">
            <a:avLst/>
          </a:prstGeom>
          <a:solidFill>
            <a:srgbClr val="D8F3DC"/>
          </a:solidFill>
          <a:ln w="13970">
            <a:solidFill>
              <a:srgbClr val="D8F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4E37"/>
                </a:solidFill>
                <a:latin typeface="Microsoft YaHei"/>
              </a:rPr>
              <a:t>topic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922775"/>
            <a:ext cx="3200400" cy="12344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3867912"/>
            <a:ext cx="32004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3867912"/>
            <a:ext cx="320040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4123944"/>
            <a:ext cx="272491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时间检索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952" y="4485132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今日新闻、最近一周、最近一个月、历史资讯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22775"/>
            <a:ext cx="3200400" cy="12344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34840" y="3867912"/>
            <a:ext cx="32004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867912"/>
            <a:ext cx="320040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72583" y="4123944"/>
            <a:ext cx="272491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来源检索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1832" y="4485132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教务处、学生会、学院通知、学生社团等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922775"/>
            <a:ext cx="3200400" cy="123444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46720" y="3867912"/>
            <a:ext cx="32004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3867912"/>
            <a:ext cx="320040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4" y="4123944"/>
            <a:ext cx="272491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主题检索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3712" y="4485132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教学通知、校园活动、竞赛比赛、考试安排、科研创新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技术亮点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突出项目实现中最能体现工作量和工程性的部分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48256"/>
            <a:ext cx="3108960" cy="233172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1993392"/>
            <a:ext cx="310896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993392"/>
            <a:ext cx="3108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9848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2615184"/>
            <a:ext cx="2633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自动化链路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054096"/>
            <a:ext cx="259689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从 URL 配置到页面生成形成闭环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减少手工维护新闻内容的成本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模块之间通过结构化数据解耦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048256"/>
            <a:ext cx="3108960" cy="233172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1993392"/>
            <a:ext cx="310896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1993392"/>
            <a:ext cx="3108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36007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615184"/>
            <a:ext cx="2633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解析鲁棒性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054096"/>
            <a:ext cx="259689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Tidy 清理非标准 HTML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pugixml/XPath 处理正文与链接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相对路径转绝对路径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048256"/>
            <a:ext cx="3108960" cy="233172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1993392"/>
            <a:ext cx="310896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1000" y="1993392"/>
            <a:ext cx="310896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2168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615184"/>
            <a:ext cx="263347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展示可扩展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054096"/>
            <a:ext cx="259689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模板化生成多类页面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JSON 输出支持前端搜索与分类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浅绿色校园风格统一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57400" y="4965192"/>
            <a:ext cx="7863840" cy="64008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057400" y="4965192"/>
            <a:ext cx="786384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5102351"/>
            <a:ext cx="7498079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答辩提示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77440" y="5440680"/>
            <a:ext cx="7223759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 dirty="0" err="1">
                <a:solidFill>
                  <a:srgbClr val="697870"/>
                </a:solidFill>
                <a:latin typeface="Microsoft YaHei"/>
              </a:rPr>
              <a:t>每个亮点都对应一段代码或一个页面效果，讲解时避免只说概念</a:t>
            </a:r>
            <a:endParaRPr sz="1000" b="0" dirty="0">
              <a:solidFill>
                <a:srgbClr val="697870"/>
              </a:solidFill>
              <a:latin typeface="Microsoft YaHe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演示路线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138" y="1197864"/>
            <a:ext cx="1773819" cy="26161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 dirty="0" err="1">
                <a:solidFill>
                  <a:srgbClr val="697870"/>
                </a:solidFill>
                <a:latin typeface="Microsoft YaHei"/>
              </a:rPr>
              <a:t>按用户视角完成</a:t>
            </a:r>
            <a:r>
              <a:rPr sz="1100" b="0" dirty="0">
                <a:solidFill>
                  <a:srgbClr val="697870"/>
                </a:solidFill>
                <a:latin typeface="Microsoft YaHei"/>
              </a:rPr>
              <a:t> 2 </a:t>
            </a:r>
            <a:r>
              <a:rPr sz="1100" b="0" dirty="0" err="1">
                <a:solidFill>
                  <a:srgbClr val="697870"/>
                </a:solidFill>
                <a:latin typeface="Microsoft YaHei"/>
              </a:rPr>
              <a:t>分钟演示</a:t>
            </a:r>
            <a:endParaRPr sz="1100" b="0" dirty="0">
              <a:solidFill>
                <a:srgbClr val="697870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130552"/>
            <a:ext cx="45720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12264"/>
            <a:ext cx="21031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1">
                <a:solidFill>
                  <a:srgbClr val="124E37"/>
                </a:solidFill>
                <a:latin typeface="Microsoft YaHei"/>
              </a:rPr>
              <a:t>打开首页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1" y="2148840"/>
            <a:ext cx="630936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展示标题、搜索框、最新资讯卡片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2999232"/>
            <a:ext cx="45720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80944"/>
            <a:ext cx="21031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1">
                <a:solidFill>
                  <a:srgbClr val="124E37"/>
                </a:solidFill>
                <a:latin typeface="Microsoft YaHei"/>
              </a:rPr>
              <a:t>查看详情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1" y="3017520"/>
            <a:ext cx="630936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进入新闻详情页，说明字段完整性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867912"/>
            <a:ext cx="45720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49624"/>
            <a:ext cx="21031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1">
                <a:solidFill>
                  <a:srgbClr val="124E37"/>
                </a:solidFill>
                <a:latin typeface="Microsoft YaHei"/>
              </a:rPr>
              <a:t>分类浏览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1" y="3886200"/>
            <a:ext cx="630936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选择时间 / 来源 / 主题分类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4736592"/>
            <a:ext cx="45720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18304"/>
            <a:ext cx="210312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700" b="1">
                <a:solidFill>
                  <a:srgbClr val="124E37"/>
                </a:solidFill>
                <a:latin typeface="Microsoft YaHei"/>
              </a:rPr>
              <a:t>关键词搜索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1" y="4754879"/>
            <a:ext cx="630936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0">
                <a:solidFill>
                  <a:srgbClr val="697870"/>
                </a:solidFill>
                <a:latin typeface="Microsoft YaHei"/>
              </a:rPr>
              <a:t>输入关键词并查看结果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5957" y="5349240"/>
            <a:ext cx="3840480" cy="73152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85957" y="5349240"/>
            <a:ext cx="384048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68837" y="5532120"/>
            <a:ext cx="347472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>
                <a:solidFill>
                  <a:srgbClr val="124E37"/>
                </a:solidFill>
                <a:latin typeface="Microsoft YaHei"/>
              </a:rPr>
              <a:t>演示链接 / 文件路径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5996" y="5870448"/>
            <a:ext cx="32004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000" b="0">
                <a:solidFill>
                  <a:srgbClr val="697870"/>
                </a:solidFill>
                <a:latin typeface="Microsoft YaHei"/>
              </a:rPr>
              <a:t>Server/output/index.html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47472"/>
            <a:ext cx="1508760" cy="34747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Campus News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41248"/>
            <a:ext cx="73152" cy="384048"/>
          </a:xfrm>
          <a:prstGeom prst="rect">
            <a:avLst/>
          </a:prstGeom>
          <a:solidFill>
            <a:srgbClr val="F6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804672"/>
            <a:ext cx="7443216" cy="43891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2400" b="1">
                <a:solidFill>
                  <a:srgbClr val="124E37"/>
                </a:solidFill>
                <a:latin typeface="Microsoft YaHei"/>
              </a:rP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97864"/>
            <a:ext cx="10881360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100" b="0">
                <a:solidFill>
                  <a:srgbClr val="697870"/>
                </a:solidFill>
                <a:latin typeface="Microsoft YaHei"/>
              </a:rPr>
              <a:t>项目跑通校园资讯从采集到展示的核心链路，并具备持续扩展基础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10881360" cy="32004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48256"/>
            <a:ext cx="3154680" cy="20116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1993392"/>
            <a:ext cx="31546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1993392"/>
            <a:ext cx="3154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69848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245" y="2656332"/>
            <a:ext cx="26791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核心成果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8533" y="3095244"/>
            <a:ext cx="2642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跑通采集、解析、存储与展示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支持浏览、搜索与筛选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048256"/>
            <a:ext cx="3154680" cy="20116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34840" y="1993392"/>
            <a:ext cx="31546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1993392"/>
            <a:ext cx="3154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636007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6404" y="2656332"/>
            <a:ext cx="26791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>
                <a:solidFill>
                  <a:srgbClr val="124E37"/>
                </a:solidFill>
                <a:latin typeface="Microsoft YaHei"/>
              </a:rPr>
              <a:t>项目价值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4693" y="3095244"/>
            <a:ext cx="2642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建立统一校园资讯入口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降低信息遗漏风险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048256"/>
            <a:ext cx="3154680" cy="2011680"/>
          </a:xfrm>
          <a:prstGeom prst="roundRect">
            <a:avLst/>
          </a:prstGeom>
          <a:solidFill>
            <a:srgbClr val="CFE2D6"/>
          </a:solidFill>
          <a:ln w="13970">
            <a:solidFill>
              <a:srgbClr val="CFE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1993392"/>
            <a:ext cx="3154680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1000" y="1993392"/>
            <a:ext cx="3154680" cy="73152"/>
          </a:xfrm>
          <a:prstGeom prst="rect">
            <a:avLst/>
          </a:prstGeom>
          <a:solidFill>
            <a:srgbClr val="1C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02168" y="2176272"/>
            <a:ext cx="713232" cy="301752"/>
          </a:xfrm>
          <a:prstGeom prst="roundRect">
            <a:avLst/>
          </a:prstGeom>
          <a:solidFill>
            <a:srgbClr val="124E37"/>
          </a:solidFill>
          <a:ln w="13970">
            <a:solidFill>
              <a:srgbClr val="12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2565" y="2656332"/>
            <a:ext cx="2679192" cy="29260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1300" b="1" dirty="0" err="1">
                <a:solidFill>
                  <a:srgbClr val="124E37"/>
                </a:solidFill>
                <a:latin typeface="Microsoft YaHei"/>
              </a:rPr>
              <a:t>后续规划</a:t>
            </a:r>
            <a:endParaRPr sz="13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40852" y="3095244"/>
            <a:ext cx="264261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定时更新与变更检测</a:t>
            </a:r>
          </a:p>
          <a:p>
            <a:pPr>
              <a:spcAft>
                <a:spcPts val="600"/>
              </a:spcAft>
              <a:defRPr sz="1150">
                <a:solidFill>
                  <a:srgbClr val="697870"/>
                </a:solidFill>
                <a:latin typeface="Microsoft YaHei"/>
              </a:defRPr>
            </a:pPr>
            <a:r>
              <a:t>推送、推荐与桌面端适配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965192"/>
            <a:ext cx="8138160" cy="640080"/>
          </a:xfrm>
          <a:prstGeom prst="roundRect">
            <a:avLst/>
          </a:prstGeom>
          <a:solidFill>
            <a:srgbClr val="FAFDFB"/>
          </a:solidFill>
          <a:ln w="13970">
            <a:solidFill>
              <a:srgbClr val="74B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74519" y="4965192"/>
            <a:ext cx="8138160" cy="73152"/>
          </a:xfrm>
          <a:prstGeom prst="rect">
            <a:avLst/>
          </a:prstGeom>
          <a:solidFill>
            <a:srgbClr val="12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399" y="5184648"/>
            <a:ext cx="777240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400" b="1" dirty="0" err="1">
                <a:solidFill>
                  <a:srgbClr val="124E37"/>
                </a:solidFill>
                <a:latin typeface="Microsoft YaHei"/>
              </a:rPr>
              <a:t>让重要通知更及时可达</a:t>
            </a:r>
            <a:endParaRPr sz="1400" b="1" dirty="0">
              <a:solidFill>
                <a:srgbClr val="124E37"/>
              </a:solidFill>
              <a:latin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4560" y="5440680"/>
            <a:ext cx="7498080" cy="2560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48840"/>
            <a:ext cx="10424160" cy="77724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2408" y="3063240"/>
            <a:ext cx="1905265" cy="36933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800" b="1" dirty="0" err="1">
                <a:solidFill>
                  <a:srgbClr val="F6B142"/>
                </a:solidFill>
                <a:latin typeface="Microsoft YaHei"/>
              </a:rPr>
              <a:t>欢迎</a:t>
            </a:r>
            <a:r>
              <a:rPr lang="zh-CN" altLang="en-US" sz="1800" b="1" dirty="0">
                <a:solidFill>
                  <a:srgbClr val="F6B14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</a:t>
            </a:r>
            <a:r>
              <a:rPr sz="1800" b="1" dirty="0" err="1">
                <a:solidFill>
                  <a:srgbClr val="F6B142"/>
                </a:solidFill>
                <a:latin typeface="Microsoft YaHei"/>
              </a:rPr>
              <a:t>老师提问</a:t>
            </a:r>
            <a:endParaRPr sz="1800" b="1" dirty="0">
              <a:solidFill>
                <a:srgbClr val="F6B142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424160" cy="27432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/>
            <a:r>
              <a:rPr sz="1300" b="0">
                <a:solidFill>
                  <a:srgbClr val="D8F3DC"/>
                </a:solidFill>
                <a:latin typeface="Microsoft YaHei"/>
              </a:rPr>
              <a:t>校园资讯聚合系统 · Campus News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5303520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r>
              <a:rPr sz="850" b="0">
                <a:solidFill>
                  <a:srgbClr val="697870"/>
                </a:solidFill>
                <a:latin typeface="Microsoft YaHei"/>
              </a:rPr>
              <a:t>校园资讯聚合系统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/>
            <a:r>
              <a:rPr sz="900" b="1">
                <a:solidFill>
                  <a:srgbClr val="124E37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631</Words>
  <Application>Microsoft Office PowerPoint</Application>
  <PresentationFormat>宽屏</PresentationFormat>
  <Paragraphs>262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舒 叶</cp:lastModifiedBy>
  <cp:revision>9</cp:revision>
  <dcterms:created xsi:type="dcterms:W3CDTF">2013-01-27T09:14:16Z</dcterms:created>
  <dcterms:modified xsi:type="dcterms:W3CDTF">2026-07-16T01:52:29Z</dcterms:modified>
  <cp:category/>
</cp:coreProperties>
</file>